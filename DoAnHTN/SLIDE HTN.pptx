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86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3" r:id="rId14"/>
    <p:sldId id="325" r:id="rId15"/>
    <p:sldId id="324" r:id="rId16"/>
    <p:sldId id="322" r:id="rId17"/>
    <p:sldId id="313" r:id="rId18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10" d="100"/>
          <a:sy n="210" d="100"/>
        </p:scale>
        <p:origin x="912" y="1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spc="-35" dirty="0"/>
              <a:t>CNTT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64135">
              <a:lnSpc>
                <a:spcPts val="80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spc="-35" dirty="0"/>
              <a:t>CNTT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64135">
              <a:lnSpc>
                <a:spcPts val="80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spc="-35" dirty="0"/>
              <a:t>CNTT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64135">
              <a:lnSpc>
                <a:spcPts val="80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spc="-35" dirty="0"/>
              <a:t>CNTT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64135">
              <a:lnSpc>
                <a:spcPts val="80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spc="-35" dirty="0"/>
              <a:t>CNTT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64135">
              <a:lnSpc>
                <a:spcPts val="80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388" y="265686"/>
            <a:ext cx="5133975" cy="261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44444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2862" y="830968"/>
            <a:ext cx="5280075" cy="2093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spc="-35" dirty="0"/>
              <a:t>CNTT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67629" y="3079968"/>
            <a:ext cx="274561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64135">
              <a:lnSpc>
                <a:spcPts val="80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6" y="0"/>
            <a:ext cx="5759958" cy="32400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779" y="860425"/>
            <a:ext cx="5486400" cy="5759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2200"/>
              </a:lnSpc>
              <a:spcBef>
                <a:spcPts val="95"/>
              </a:spcBef>
            </a:pPr>
            <a:r>
              <a:rPr lang="vi-VN" sz="1800" dirty="0">
                <a:solidFill>
                  <a:schemeClr val="bg1"/>
                </a:solidFill>
              </a:rPr>
              <a:t>BÁO CÁO BÀI TẬP LỚN</a:t>
            </a:r>
            <a:br>
              <a:rPr lang="vi-VN" sz="1800" dirty="0">
                <a:solidFill>
                  <a:schemeClr val="bg1"/>
                </a:solidFill>
              </a:rPr>
            </a:br>
            <a:r>
              <a:rPr lang="en-US" sz="1600" dirty="0" err="1">
                <a:solidFill>
                  <a:schemeClr val="bg1"/>
                </a:solidFill>
              </a:rPr>
              <a:t>Thiết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chế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tạo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quạt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thông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minh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nhận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diện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giọng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nói</a:t>
            </a:r>
            <a:endParaRPr lang="vi-VN" sz="1800" dirty="0">
              <a:solidFill>
                <a:schemeClr val="bg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100" y="1851025"/>
            <a:ext cx="4955693" cy="5228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232410" defTabSz="673100">
              <a:lnSpc>
                <a:spcPct val="118900"/>
              </a:lnSpc>
            </a:pPr>
            <a:r>
              <a:rPr sz="950" b="1" spc="10" dirty="0">
                <a:solidFill>
                  <a:srgbClr val="F3F6F8"/>
                </a:solidFill>
                <a:latin typeface="Arial"/>
                <a:cs typeface="Arial"/>
              </a:rPr>
              <a:t>Sinh</a:t>
            </a:r>
            <a:r>
              <a:rPr sz="950" b="1" spc="85" dirty="0">
                <a:solidFill>
                  <a:srgbClr val="F3F6F8"/>
                </a:solidFill>
                <a:latin typeface="Arial"/>
                <a:cs typeface="Arial"/>
              </a:rPr>
              <a:t> </a:t>
            </a:r>
            <a:r>
              <a:rPr sz="950" b="1" spc="10" dirty="0">
                <a:solidFill>
                  <a:srgbClr val="F3F6F8"/>
                </a:solidFill>
                <a:latin typeface="Arial"/>
                <a:cs typeface="Arial"/>
              </a:rPr>
              <a:t>viên</a:t>
            </a:r>
            <a:r>
              <a:rPr sz="950" b="1" spc="85" dirty="0">
                <a:solidFill>
                  <a:srgbClr val="F3F6F8"/>
                </a:solidFill>
                <a:latin typeface="Arial"/>
                <a:cs typeface="Arial"/>
              </a:rPr>
              <a:t> </a:t>
            </a:r>
            <a:r>
              <a:rPr sz="950" b="1" spc="55" dirty="0">
                <a:solidFill>
                  <a:srgbClr val="F3F6F8"/>
                </a:solidFill>
                <a:latin typeface="Arial"/>
                <a:cs typeface="Arial"/>
              </a:rPr>
              <a:t>thực</a:t>
            </a:r>
            <a:r>
              <a:rPr sz="950" b="1" spc="85" dirty="0">
                <a:solidFill>
                  <a:srgbClr val="F3F6F8"/>
                </a:solidFill>
                <a:latin typeface="Arial"/>
                <a:cs typeface="Arial"/>
              </a:rPr>
              <a:t> </a:t>
            </a:r>
            <a:r>
              <a:rPr sz="950" b="1" spc="10" dirty="0">
                <a:solidFill>
                  <a:srgbClr val="F3F6F8"/>
                </a:solidFill>
                <a:latin typeface="Arial"/>
                <a:cs typeface="Arial"/>
              </a:rPr>
              <a:t>hiện:</a:t>
            </a:r>
            <a:r>
              <a:rPr sz="950" b="1" spc="90" dirty="0">
                <a:solidFill>
                  <a:srgbClr val="F3F6F8"/>
                </a:solidFill>
                <a:latin typeface="Arial"/>
                <a:cs typeface="Arial"/>
              </a:rPr>
              <a:t> </a:t>
            </a:r>
            <a:r>
              <a:rPr lang="vi-VN" sz="950" b="1" spc="90" dirty="0">
                <a:solidFill>
                  <a:srgbClr val="F3F6F8"/>
                </a:solidFill>
                <a:latin typeface="Arial"/>
                <a:cs typeface="Arial"/>
              </a:rPr>
              <a:t>	</a:t>
            </a:r>
            <a:r>
              <a:rPr lang="vi-VN" sz="950" b="1" spc="10" dirty="0">
                <a:solidFill>
                  <a:srgbClr val="F3F6F8"/>
                </a:solidFill>
                <a:latin typeface="Arial"/>
                <a:cs typeface="Arial"/>
              </a:rPr>
              <a:t>Nguyễn Đức Cảnh – B22DCDT043</a:t>
            </a:r>
          </a:p>
          <a:p>
            <a:pPr marL="12700" marR="232410" defTabSz="673100">
              <a:lnSpc>
                <a:spcPct val="118900"/>
              </a:lnSpc>
            </a:pPr>
            <a:r>
              <a:rPr lang="vi-VN" sz="950" b="1" spc="10" dirty="0">
                <a:solidFill>
                  <a:srgbClr val="F3F6F8"/>
                </a:solidFill>
                <a:latin typeface="Arial"/>
                <a:cs typeface="Arial"/>
              </a:rPr>
              <a:t>		</a:t>
            </a:r>
            <a:r>
              <a:rPr lang="en-US" sz="950" b="1" spc="10" dirty="0" err="1">
                <a:solidFill>
                  <a:srgbClr val="F3F6F8"/>
                </a:solidFill>
                <a:latin typeface="Arial"/>
                <a:cs typeface="Arial"/>
              </a:rPr>
              <a:t>Đỗ</a:t>
            </a:r>
            <a:r>
              <a:rPr lang="en-US" sz="950" b="1" spc="10" dirty="0">
                <a:solidFill>
                  <a:srgbClr val="F3F6F8"/>
                </a:solidFill>
                <a:latin typeface="Arial"/>
                <a:cs typeface="Arial"/>
              </a:rPr>
              <a:t> </a:t>
            </a:r>
            <a:r>
              <a:rPr lang="en-US" sz="950" b="1" spc="10" dirty="0" err="1">
                <a:solidFill>
                  <a:srgbClr val="F3F6F8"/>
                </a:solidFill>
                <a:latin typeface="Arial"/>
                <a:cs typeface="Arial"/>
              </a:rPr>
              <a:t>Trọng</a:t>
            </a:r>
            <a:r>
              <a:rPr lang="en-US" sz="950" b="1" spc="10" dirty="0">
                <a:solidFill>
                  <a:srgbClr val="F3F6F8"/>
                </a:solidFill>
                <a:latin typeface="Arial"/>
                <a:cs typeface="Arial"/>
              </a:rPr>
              <a:t> Giáp – B22DCDT099 </a:t>
            </a:r>
            <a:endParaRPr lang="vi-VN" sz="950" b="1" spc="10" dirty="0">
              <a:solidFill>
                <a:srgbClr val="F3F6F8"/>
              </a:solidFill>
              <a:latin typeface="Arial"/>
              <a:cs typeface="Arial"/>
            </a:endParaRPr>
          </a:p>
          <a:p>
            <a:pPr marL="12700" marR="232410" defTabSz="673100">
              <a:lnSpc>
                <a:spcPct val="118900"/>
              </a:lnSpc>
            </a:pPr>
            <a:r>
              <a:rPr lang="vi-VN" sz="950" b="1" spc="10" dirty="0">
                <a:solidFill>
                  <a:srgbClr val="F3F6F8"/>
                </a:solidFill>
                <a:latin typeface="Arial"/>
                <a:cs typeface="Arial"/>
              </a:rPr>
              <a:t>Giảng</a:t>
            </a:r>
            <a:r>
              <a:rPr sz="950" b="1" spc="65" dirty="0">
                <a:solidFill>
                  <a:srgbClr val="F3F6F8"/>
                </a:solidFill>
                <a:latin typeface="Arial"/>
                <a:cs typeface="Arial"/>
              </a:rPr>
              <a:t> </a:t>
            </a:r>
            <a:r>
              <a:rPr lang="vi-VN" sz="950" b="1" spc="10" dirty="0">
                <a:solidFill>
                  <a:srgbClr val="F3F6F8"/>
                </a:solidFill>
                <a:latin typeface="Arial"/>
                <a:cs typeface="Arial"/>
              </a:rPr>
              <a:t>viên: T</a:t>
            </a:r>
            <a:r>
              <a:rPr lang="en-US" sz="950" b="1" spc="10" dirty="0" err="1">
                <a:solidFill>
                  <a:srgbClr val="F3F6F8"/>
                </a:solidFill>
                <a:latin typeface="Arial"/>
                <a:cs typeface="Arial"/>
              </a:rPr>
              <a:t>hS</a:t>
            </a:r>
            <a:r>
              <a:rPr lang="en-US" sz="950" b="1" spc="10" dirty="0">
                <a:solidFill>
                  <a:srgbClr val="F3F6F8"/>
                </a:solidFill>
                <a:latin typeface="Arial"/>
                <a:cs typeface="Arial"/>
              </a:rPr>
              <a:t>. Lương Công </a:t>
            </a:r>
            <a:r>
              <a:rPr lang="en-US" sz="950" b="1" spc="10" dirty="0" err="1">
                <a:solidFill>
                  <a:srgbClr val="F3F6F8"/>
                </a:solidFill>
                <a:latin typeface="Arial"/>
                <a:cs typeface="Arial"/>
              </a:rPr>
              <a:t>Duẩn</a:t>
            </a:r>
            <a:endParaRPr sz="95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497" y="294591"/>
            <a:ext cx="1870354" cy="38662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Nội</a:t>
            </a:r>
            <a:r>
              <a:rPr spc="5" dirty="0"/>
              <a:t> </a:t>
            </a:r>
            <a:r>
              <a:rPr spc="-20" dirty="0"/>
              <a:t>dung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8541" y="3060838"/>
            <a:ext cx="817880" cy="1224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dirty="0">
                <a:solidFill>
                  <a:srgbClr val="666666"/>
                </a:solidFill>
                <a:latin typeface="Arial"/>
                <a:cs typeface="Arial"/>
              </a:rPr>
              <a:t>Khoa</a:t>
            </a:r>
            <a:r>
              <a:rPr sz="70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lang="vi-VN" sz="700" spc="-35" dirty="0">
                <a:solidFill>
                  <a:srgbClr val="666666"/>
                </a:solidFill>
                <a:latin typeface="Arial"/>
                <a:cs typeface="Arial"/>
              </a:rPr>
              <a:t>KTDT</a:t>
            </a:r>
            <a:r>
              <a:rPr sz="70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-10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r>
              <a:rPr sz="700" spc="3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100" dirty="0">
                <a:solidFill>
                  <a:srgbClr val="666666"/>
                </a:solidFill>
                <a:latin typeface="Arial"/>
                <a:cs typeface="Arial"/>
              </a:rPr>
              <a:t>-</a:t>
            </a:r>
            <a:r>
              <a:rPr sz="70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666666"/>
                </a:solidFill>
                <a:latin typeface="Arial"/>
                <a:cs typeface="Arial"/>
              </a:rPr>
              <a:t>PTIT</a:t>
            </a:r>
            <a:endParaRPr sz="700" dirty="0">
              <a:latin typeface="Arial"/>
              <a:cs typeface="Arial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EF685C5-1763-E2CC-0725-A60BC2EA9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88" y="673353"/>
            <a:ext cx="3846342" cy="212948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55" dirty="0" err="1"/>
              <a:t>Tổng</a:t>
            </a:r>
            <a:r>
              <a:rPr lang="en-US" sz="1400" spc="-55" dirty="0"/>
              <a:t> </a:t>
            </a:r>
            <a:r>
              <a:rPr lang="en-US" sz="1400" spc="-55" dirty="0" err="1"/>
              <a:t>quan</a:t>
            </a:r>
            <a:r>
              <a:rPr lang="en-US" sz="1400" spc="-55" dirty="0"/>
              <a:t> </a:t>
            </a:r>
            <a:r>
              <a:rPr lang="en-US" sz="1400" spc="-55" dirty="0" err="1"/>
              <a:t>hệ</a:t>
            </a:r>
            <a:r>
              <a:rPr lang="en-US" sz="1400" spc="-55" dirty="0"/>
              <a:t> </a:t>
            </a:r>
            <a:r>
              <a:rPr lang="en-US" sz="1400" spc="-55" dirty="0" err="1"/>
              <a:t>thống</a:t>
            </a:r>
            <a:r>
              <a:rPr lang="en-US" sz="1400" spc="-55" dirty="0"/>
              <a:t> </a:t>
            </a:r>
            <a:r>
              <a:rPr lang="en-US" sz="1400" spc="-55" dirty="0" err="1"/>
              <a:t>nhận</a:t>
            </a:r>
            <a:r>
              <a:rPr lang="en-US" sz="1400" spc="-55" dirty="0"/>
              <a:t> </a:t>
            </a:r>
            <a:r>
              <a:rPr lang="en-US" sz="1400" spc="-55" dirty="0" err="1"/>
              <a:t>diện</a:t>
            </a:r>
            <a:r>
              <a:rPr lang="en-US" sz="1400" spc="-55" dirty="0"/>
              <a:t> </a:t>
            </a:r>
            <a:r>
              <a:rPr lang="en-US" sz="1400" spc="-55" dirty="0" err="1"/>
              <a:t>lệnh</a:t>
            </a:r>
            <a:endParaRPr lang="vi-VN" sz="1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DC0F7-CB8E-F9DF-4936-23F80790F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" y="860425"/>
            <a:ext cx="5092700" cy="137036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756136-907F-34F0-25FD-28070894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B53EC4-39B9-11EA-8703-E532E6410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/>
              <a:t>Dataset </a:t>
            </a:r>
            <a:r>
              <a:rPr lang="en-US" spc="-55" dirty="0" err="1"/>
              <a:t>trong</a:t>
            </a:r>
            <a:r>
              <a:rPr lang="en-US" spc="-55" dirty="0"/>
              <a:t> project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EEE1241-D532-5836-1ABD-E0DA5DC3C1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F85695CF-7E56-98EA-DC3E-923A8AB69C1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0F4F0-C3A9-6A5A-C80F-C9881C1C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88" y="631825"/>
            <a:ext cx="5016500" cy="213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64616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AD745F-71AE-5D0C-E913-82262BAD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7D8A64E-A770-63E1-B13C-99A622955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 err="1"/>
              <a:t>Mô</a:t>
            </a:r>
            <a:r>
              <a:rPr lang="en-US" spc="-55" dirty="0"/>
              <a:t> </a:t>
            </a:r>
            <a:r>
              <a:rPr lang="en-US" spc="-55" dirty="0" err="1"/>
              <a:t>hình</a:t>
            </a:r>
            <a:r>
              <a:rPr lang="en-US" spc="-55" dirty="0"/>
              <a:t> 2 stage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EA0274B-09FF-435A-5464-67FD126D4E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B1252451-9247-1534-3687-C7D2293EFB5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33413D-E274-3529-77BA-7768FED2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88" y="708025"/>
            <a:ext cx="5168900" cy="200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2191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0D34571-475A-9188-5C31-0435C092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419298-E9C3-CDAB-91A7-553B1DDDC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/>
              <a:t>Tiền xử lý audio</a:t>
            </a:r>
            <a:endParaRPr lang="en-US"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7107D90-1C58-FFFC-C6C0-61431221AF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C4D91FD9-E522-A60D-486F-CD1A3FB9B95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lang="en-US"/>
              <a:t>Khoa</a:t>
            </a:r>
            <a:r>
              <a:rPr lang="en-US" spc="20"/>
              <a:t> </a:t>
            </a:r>
            <a:r>
              <a:rPr lang="en-US" spc="-35"/>
              <a:t>KTDT</a:t>
            </a:r>
            <a:r>
              <a:rPr lang="en-US" spc="25"/>
              <a:t> </a:t>
            </a:r>
            <a:r>
              <a:rPr lang="en-US" spc="-100"/>
              <a:t>1</a:t>
            </a:r>
            <a:r>
              <a:rPr lang="en-US" spc="30"/>
              <a:t> </a:t>
            </a:r>
            <a:r>
              <a:rPr lang="en-US" spc="100"/>
              <a:t>-</a:t>
            </a:r>
            <a:r>
              <a:rPr lang="en-US" spc="20"/>
              <a:t> </a:t>
            </a:r>
            <a:r>
              <a:rPr lang="en-US" spc="-30"/>
              <a:t>PTIT</a:t>
            </a:r>
            <a:endParaRPr lang="en-US" spc="-30" dirty="0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9BC8F12F-666E-CFA9-7C18-483391FEF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1" y="708025"/>
            <a:ext cx="5303687" cy="200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46441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89C743-7728-12EE-9E7A-D02E4576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F19018-174B-7756-AAB2-0A0BCF7DB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55" dirty="0" err="1"/>
              <a:t>Kiến</a:t>
            </a:r>
            <a:r>
              <a:rPr lang="en-US" spc="-55" dirty="0"/>
              <a:t> </a:t>
            </a:r>
            <a:r>
              <a:rPr lang="en-US" spc="-55" dirty="0" err="1"/>
              <a:t>trúc</a:t>
            </a:r>
            <a:r>
              <a:rPr lang="en-US" spc="-55" dirty="0"/>
              <a:t> CNN </a:t>
            </a:r>
            <a:r>
              <a:rPr lang="en-US" spc="-55" dirty="0" err="1"/>
              <a:t>bên</a:t>
            </a:r>
            <a:r>
              <a:rPr lang="en-US" spc="-55" dirty="0"/>
              <a:t> </a:t>
            </a:r>
            <a:r>
              <a:rPr lang="en-US" spc="-55" dirty="0" err="1"/>
              <a:t>trong</a:t>
            </a:r>
            <a:r>
              <a:rPr lang="en-US" spc="-55" dirty="0"/>
              <a:t> model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239F353-486E-CAD7-B70C-8F93F710BE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47122AE1-E26B-C317-CF7D-E43BC0DD4DA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EAB42B-5F49-CD2F-8D62-5C8A0035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50" y="780755"/>
            <a:ext cx="5473700" cy="174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448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85F798-C56E-23F6-5FE0-D9196662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745C20-347B-01A7-4B29-630DE6E659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pc="-55" dirty="0" err="1"/>
              <a:t>Luồng</a:t>
            </a:r>
            <a:r>
              <a:rPr lang="en-US" spc="-55" dirty="0"/>
              <a:t> </a:t>
            </a:r>
            <a:r>
              <a:rPr lang="en-US" spc="-55" dirty="0" err="1"/>
              <a:t>suy</a:t>
            </a:r>
            <a:r>
              <a:rPr lang="en-US" spc="-55" dirty="0"/>
              <a:t> </a:t>
            </a:r>
            <a:r>
              <a:rPr lang="en-US" spc="-55" dirty="0" err="1"/>
              <a:t>luận</a:t>
            </a:r>
            <a:r>
              <a:rPr lang="en-US" spc="-55" dirty="0"/>
              <a:t> 2-stage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E0CD7C3-4B43-92E4-B218-B5FDD58085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FE85460C-33DC-CF97-2C10-32B0CCEB2A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177E3-2817-960C-6C2F-1973E8924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12" y="673353"/>
            <a:ext cx="5133975" cy="200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5487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BEC46C-AC75-6287-109B-D31FF239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9B05F8-B609-3E19-218C-ACD1DB51C0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 err="1"/>
              <a:t>Đánh</a:t>
            </a:r>
            <a:r>
              <a:rPr lang="en-US" spc="-55" dirty="0"/>
              <a:t> </a:t>
            </a:r>
            <a:r>
              <a:rPr lang="en-US" spc="-55" dirty="0" err="1"/>
              <a:t>giá</a:t>
            </a:r>
            <a:r>
              <a:rPr lang="en-US" spc="-55" dirty="0"/>
              <a:t> model </a:t>
            </a:r>
            <a:r>
              <a:rPr lang="en-US" spc="-55" dirty="0" err="1"/>
              <a:t>bằng</a:t>
            </a:r>
            <a:r>
              <a:rPr lang="en-US" spc="-55" dirty="0"/>
              <a:t> ma </a:t>
            </a:r>
            <a:r>
              <a:rPr lang="en-US" spc="-55" dirty="0" err="1"/>
              <a:t>trận</a:t>
            </a:r>
            <a:r>
              <a:rPr lang="en-US" spc="-55" dirty="0"/>
              <a:t> </a:t>
            </a:r>
            <a:r>
              <a:rPr lang="en-US" spc="-55" dirty="0" err="1"/>
              <a:t>nhầm</a:t>
            </a:r>
            <a:r>
              <a:rPr lang="en-US" spc="-55" dirty="0"/>
              <a:t> </a:t>
            </a:r>
            <a:r>
              <a:rPr lang="en-US" spc="-55" dirty="0" err="1"/>
              <a:t>lẫn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DE86308-50FF-AF5F-F566-6F6EE3BE7C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133F6EDB-37EF-139A-FBEA-2F9187EE79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5" name="Image 0" descr="/mnt/data/dataset_extract/Dataset/stage1_model_confusion_matrix.png">
            <a:extLst>
              <a:ext uri="{FF2B5EF4-FFF2-40B4-BE49-F238E27FC236}">
                <a16:creationId xmlns:a16="http://schemas.microsoft.com/office/drawing/2014/main" id="{9FEF1F1C-EEAD-0431-48BA-6C2D8F047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593090"/>
            <a:ext cx="2896447" cy="2172335"/>
          </a:xfrm>
          <a:prstGeom prst="rect">
            <a:avLst/>
          </a:prstGeom>
        </p:spPr>
      </p:pic>
      <p:pic>
        <p:nvPicPr>
          <p:cNvPr id="6" name="Image 1" descr="/mnt/data/dataset_extract/Dataset/stage2_model_confusion_matrix.png">
            <a:extLst>
              <a:ext uri="{FF2B5EF4-FFF2-40B4-BE49-F238E27FC236}">
                <a16:creationId xmlns:a16="http://schemas.microsoft.com/office/drawing/2014/main" id="{0496C015-D5BB-6760-B97D-33D88605D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853" y="584770"/>
            <a:ext cx="2896447" cy="2172335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E5B4AB2-890B-47FE-4273-E830B9023EBB}"/>
              </a:ext>
            </a:extLst>
          </p:cNvPr>
          <p:cNvSpPr/>
          <p:nvPr/>
        </p:nvSpPr>
        <p:spPr>
          <a:xfrm>
            <a:off x="-508424" y="2768521"/>
            <a:ext cx="3886200" cy="27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Stage 1: phân loại lệnh tổng quát</a:t>
            </a:r>
            <a:endParaRPr lang="en-US" sz="1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95C10B8-0BBB-878A-C49D-E5F45B9CB58D}"/>
              </a:ext>
            </a:extLst>
          </p:cNvPr>
          <p:cNvSpPr/>
          <p:nvPr/>
        </p:nvSpPr>
        <p:spPr>
          <a:xfrm>
            <a:off x="2425700" y="2765425"/>
            <a:ext cx="3886200" cy="27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Stage 2: phân loại level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447100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117767-57F9-3611-19D6-19DC3BD6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31A943B-B67F-5A78-B212-EA2DA1369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65" y="163847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Porting sang ESP32-S3: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trúc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mềm</a:t>
            </a:r>
            <a:endParaRPr lang="en-US" sz="16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748645E-8C42-E5E2-E644-CD241F7053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094D7624-4D46-5CBD-AC19-D8BA8333EF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75B134-16E7-DA86-975F-BF6E0CBF8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11" y="707008"/>
            <a:ext cx="5292083" cy="208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94325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160399-7B7A-08DC-04EA-707D9C07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AE6F66D-25B7-E247-7DBB-854CD0903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65" y="163847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chạy thực tế trên ESP</a:t>
            </a:r>
            <a:endParaRPr lang="en-US" sz="16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B106972-38A9-CB3B-64FF-B6C942E584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550DB295-9344-04BB-C3D4-112E1C1A98F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lang="en-US"/>
              <a:t>Khoa</a:t>
            </a:r>
            <a:r>
              <a:rPr lang="en-US" spc="20"/>
              <a:t> </a:t>
            </a:r>
            <a:r>
              <a:rPr lang="en-US" spc="-35"/>
              <a:t>KTDT</a:t>
            </a:r>
            <a:r>
              <a:rPr lang="en-US" spc="25"/>
              <a:t> </a:t>
            </a:r>
            <a:r>
              <a:rPr lang="en-US" spc="-100"/>
              <a:t>1</a:t>
            </a:r>
            <a:r>
              <a:rPr lang="en-US" spc="30"/>
              <a:t> </a:t>
            </a:r>
            <a:r>
              <a:rPr lang="en-US" spc="100"/>
              <a:t>-</a:t>
            </a:r>
            <a:r>
              <a:rPr lang="en-US" spc="20"/>
              <a:t> </a:t>
            </a:r>
            <a:r>
              <a:rPr lang="en-US" spc="-30"/>
              <a:t>PTIT</a:t>
            </a:r>
            <a:endParaRPr lang="en-US" spc="-3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752D6-FAA5-25D9-8C99-0801E2470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35" y="618426"/>
            <a:ext cx="5207398" cy="206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11804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D432AB-4BB3-FDAA-FF58-FC75AF08A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DCAD4A-6F9D-976C-33B0-4D9D863A0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65" y="163847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TFLite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ESP32</a:t>
            </a:r>
            <a:endParaRPr lang="en-US" sz="16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983FE09-20C8-D4A2-33A8-BDAEEE45E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6A26B5C7-E5D8-453C-6882-77FE93CF70E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lang="en-US"/>
              <a:t>Khoa</a:t>
            </a:r>
            <a:r>
              <a:rPr lang="en-US" spc="20"/>
              <a:t> </a:t>
            </a:r>
            <a:r>
              <a:rPr lang="en-US" spc="-35"/>
              <a:t>KTDT</a:t>
            </a:r>
            <a:r>
              <a:rPr lang="en-US" spc="25"/>
              <a:t> </a:t>
            </a:r>
            <a:r>
              <a:rPr lang="en-US" spc="-100"/>
              <a:t>1</a:t>
            </a:r>
            <a:r>
              <a:rPr lang="en-US" spc="30"/>
              <a:t> </a:t>
            </a:r>
            <a:r>
              <a:rPr lang="en-US" spc="100"/>
              <a:t>-</a:t>
            </a:r>
            <a:r>
              <a:rPr lang="en-US" spc="20"/>
              <a:t> </a:t>
            </a:r>
            <a:r>
              <a:rPr lang="en-US" spc="-30"/>
              <a:t>PTIT</a:t>
            </a:r>
            <a:endParaRPr lang="en-US" spc="-3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7D682-3AD3-0ADC-F7BD-835C74564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0" y="708025"/>
            <a:ext cx="5245100" cy="19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89038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9D6B09-2EC6-1019-9A12-C371EC8A2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E0074BD-CD52-E246-E129-53C94910C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 err="1"/>
              <a:t>Kết</a:t>
            </a:r>
            <a:r>
              <a:rPr lang="en-US" spc="-55" dirty="0"/>
              <a:t> </a:t>
            </a:r>
            <a:r>
              <a:rPr lang="en-US" spc="-55" dirty="0" err="1"/>
              <a:t>quả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402B6E7-9D89-DBDB-8989-DEC913BB6C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841663AC-FEBA-96F8-E94D-EF24AFB2590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4B9D47-7599-0866-F34A-58919F995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379" y="336994"/>
            <a:ext cx="2956243" cy="279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95836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C21427-5AC9-FC90-1E75-1E372A745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3D76259-A0CE-D4E9-BE42-45C16EF5D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 err="1"/>
              <a:t>Kết</a:t>
            </a:r>
            <a:r>
              <a:rPr lang="en-US" spc="-55" dirty="0"/>
              <a:t> </a:t>
            </a:r>
            <a:r>
              <a:rPr lang="en-US" spc="-55" dirty="0" err="1"/>
              <a:t>quả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2C662CD-83ED-877D-49DB-89A48170DE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0F8B2D40-845A-DDBC-D188-8EFBC3A93CB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13DCB0-CD4F-DF48-9C9C-945F85042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784225"/>
            <a:ext cx="2705100" cy="1459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D7769F-79B9-3596-B702-2440E9260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155" y="928816"/>
            <a:ext cx="2601687" cy="111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23526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AE0457-57B8-4A70-9989-79DAC853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1D8772-D865-534D-071F-B5C416D85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388" y="265686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 err="1"/>
              <a:t>Kết</a:t>
            </a:r>
            <a:r>
              <a:rPr lang="en-US" spc="-55" dirty="0"/>
              <a:t> </a:t>
            </a:r>
            <a:r>
              <a:rPr lang="en-US" spc="-55" dirty="0" err="1"/>
              <a:t>quả</a:t>
            </a:r>
            <a:endParaRPr spc="7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D756D36-6F38-7913-6C87-82656BC158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776023C3-0365-B9DA-1209-7D96325D909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dirty="0"/>
              <a:t>Khoa</a:t>
            </a:r>
            <a:r>
              <a:rPr spc="20" dirty="0"/>
              <a:t> </a:t>
            </a:r>
            <a:r>
              <a:rPr lang="vi-VN" spc="-35" dirty="0"/>
              <a:t>KTDT</a:t>
            </a:r>
            <a:r>
              <a:rPr spc="25" dirty="0"/>
              <a:t> </a:t>
            </a:r>
            <a:r>
              <a:rPr spc="-100" dirty="0"/>
              <a:t>1</a:t>
            </a:r>
            <a:r>
              <a:rPr spc="30" dirty="0"/>
              <a:t> </a:t>
            </a:r>
            <a:r>
              <a:rPr spc="100" dirty="0"/>
              <a:t>-</a:t>
            </a:r>
            <a:r>
              <a:rPr spc="20" dirty="0"/>
              <a:t> </a:t>
            </a:r>
            <a:r>
              <a:rPr spc="-30" dirty="0"/>
              <a:t>PTIT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F8669C-036A-ABCA-4B1F-FCFF9AB13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" y="583540"/>
            <a:ext cx="3903151" cy="243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51733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DE3948-8B03-19A1-1BB8-88E4C1F6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971824-1757-507D-9FAC-3E922EB4AA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865" y="163847"/>
            <a:ext cx="51339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lớn</a:t>
            </a: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nhất</a:t>
            </a:r>
            <a:endParaRPr lang="en-US" sz="16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581BE59-4433-1FF7-751C-D9FDCD63679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949" y="1968"/>
            <a:ext cx="540001" cy="671385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B6C10CAD-4082-B733-91F8-06807F58F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18541" y="3079968"/>
            <a:ext cx="817880" cy="1025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05"/>
              </a:lnSpc>
            </a:pPr>
            <a:r>
              <a:rPr lang="en-US"/>
              <a:t>Khoa</a:t>
            </a:r>
            <a:r>
              <a:rPr lang="en-US" spc="20"/>
              <a:t> </a:t>
            </a:r>
            <a:r>
              <a:rPr lang="en-US" spc="-35"/>
              <a:t>KTDT</a:t>
            </a:r>
            <a:r>
              <a:rPr lang="en-US" spc="25"/>
              <a:t> </a:t>
            </a:r>
            <a:r>
              <a:rPr lang="en-US" spc="-100"/>
              <a:t>1</a:t>
            </a:r>
            <a:r>
              <a:rPr lang="en-US" spc="30"/>
              <a:t> </a:t>
            </a:r>
            <a:r>
              <a:rPr lang="en-US" spc="100"/>
              <a:t>-</a:t>
            </a:r>
            <a:r>
              <a:rPr lang="en-US" spc="20"/>
              <a:t> </a:t>
            </a:r>
            <a:r>
              <a:rPr lang="en-US" spc="-30"/>
              <a:t>PTIT</a:t>
            </a:r>
            <a:endParaRPr lang="en-US" spc="-3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5D557-3946-A090-328A-15A1507B9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708025"/>
            <a:ext cx="4864100" cy="156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4348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9B2652-D72B-6FAD-613D-3B7946DC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E2D7A29-B719-2F07-C5B3-19B4734B4A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59958" cy="324002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665BE5A-840D-EB44-B784-52534D828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00" y="1471284"/>
            <a:ext cx="5486400" cy="297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2200"/>
              </a:lnSpc>
              <a:spcBef>
                <a:spcPts val="95"/>
              </a:spcBef>
            </a:pPr>
            <a:r>
              <a:rPr lang="vi-VN" sz="1800" dirty="0">
                <a:solidFill>
                  <a:schemeClr val="bg1"/>
                </a:solidFill>
              </a:rPr>
              <a:t>CẢM ƠN THẦY VÀ CÁC BẠN ĐÃ LẮNG NGHE</a:t>
            </a: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C256F96-8D8A-1499-75EC-EE3A06F868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497" y="294591"/>
            <a:ext cx="1870354" cy="38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5058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554</TotalTime>
  <Words>209</Words>
  <Application>Microsoft Office PowerPoint</Application>
  <PresentationFormat>Custom</PresentationFormat>
  <Paragraphs>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BÁO CÁO BÀI TẬP LỚN Thiết kế, chế tạo quạt thông minh nhận diện giọng nói</vt:lpstr>
      <vt:lpstr>Nội dung</vt:lpstr>
      <vt:lpstr>Tổng quan hệ thống nhận diện lệnh</vt:lpstr>
      <vt:lpstr>Dataset trong project</vt:lpstr>
      <vt:lpstr>Mô hình 2 stage</vt:lpstr>
      <vt:lpstr>Tiền xử lý audio</vt:lpstr>
      <vt:lpstr>Kiến trúc CNN bên trong model</vt:lpstr>
      <vt:lpstr>Luồng suy luận 2-stage</vt:lpstr>
      <vt:lpstr>Đánh giá model bằng ma trận nhầm lẫn</vt:lpstr>
      <vt:lpstr>Porting sang ESP32-S3: kiến trúc phần mềm</vt:lpstr>
      <vt:lpstr>Luồng chạy thực tế trên ESP</vt:lpstr>
      <vt:lpstr>TFLite Micro trên ESP32</vt:lpstr>
      <vt:lpstr>Kết quả</vt:lpstr>
      <vt:lpstr>Kết quả</vt:lpstr>
      <vt:lpstr>Kết quả</vt:lpstr>
      <vt:lpstr>Rủi ro lớn nhất</vt:lpstr>
      <vt:lpstr>CẢM ƠN THẦY VÀ CÁC BẠN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ĐIỀN ĐẦY ĐỦ TÊN ĐỀ TÀI ĐỒ ÁN TỐT NGHIỆP Ở ĐÂY NHÉ - ĐỒ ÁN TỐT NGHIỆP ĐẠI HỌC</dc:title>
  <dc:creator>Sinh viên thực hiện: Nguyễn Văn A  Giáo viên hướng dẫn: Ts. Nguyễn Văn B  Mã sinh viên: B18DCCN123 - Lớp: D18HTTT1</dc:creator>
  <cp:lastModifiedBy>Nguyen Duc Canh D22DT03</cp:lastModifiedBy>
  <cp:revision>8</cp:revision>
  <dcterms:created xsi:type="dcterms:W3CDTF">2024-07-09T09:13:42Z</dcterms:created>
  <dcterms:modified xsi:type="dcterms:W3CDTF">2026-05-26T10:15:41Z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2024-07-09T00:00:00Z</vt:filetime>
  </property>
  <property fmtid="{D5CDD505-2E9C-101B-9397-08002B2CF9AE}" pid="5" name="Producer">
    <vt:lpwstr>3-Heights(TM) PDF Security Shell 4.8.25.2 (http://www.pdf-tools.com)</vt:lpwstr>
  </property>
</Properties>
</file>